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0" r:id="rId3"/>
    <p:sldId id="261" r:id="rId4"/>
    <p:sldId id="281" r:id="rId5"/>
    <p:sldId id="263" r:id="rId6"/>
    <p:sldId id="265" r:id="rId7"/>
    <p:sldId id="264" r:id="rId8"/>
    <p:sldId id="266" r:id="rId9"/>
    <p:sldId id="282" r:id="rId10"/>
    <p:sldId id="267" r:id="rId11"/>
    <p:sldId id="283" r:id="rId12"/>
    <p:sldId id="286" r:id="rId13"/>
    <p:sldId id="285" r:id="rId14"/>
    <p:sldId id="289" r:id="rId15"/>
    <p:sldId id="290" r:id="rId16"/>
    <p:sldId id="291" r:id="rId17"/>
    <p:sldId id="293" r:id="rId18"/>
    <p:sldId id="294" r:id="rId19"/>
    <p:sldId id="295" r:id="rId20"/>
    <p:sldId id="276" r:id="rId21"/>
    <p:sldId id="296" r:id="rId22"/>
    <p:sldId id="297" r:id="rId23"/>
    <p:sldId id="298" r:id="rId24"/>
    <p:sldId id="259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D98A1-882A-4EF8-A170-C427F97472B7}" v="505" dt="2025-11-07T09:28:52.025"/>
    <p1510:client id="{AEF2C41C-2353-E427-C6B0-411CA31B3F0D}" v="20" dt="2025-11-08T05:46:51.022"/>
    <p1510:client id="{FB592102-3889-C894-4A4F-5CF5190D4166}" v="8" dt="2025-11-08T05:38:36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AEF2C41C-2353-E427-C6B0-411CA31B3F0D}"/>
    <pc:docChg chg="addSld delSld modSld sldOrd">
      <pc:chgData name="Guest User" userId="" providerId="Windows Live" clId="Web-{AEF2C41C-2353-E427-C6B0-411CA31B3F0D}" dt="2025-11-08T05:46:51.022" v="12"/>
      <pc:docMkLst>
        <pc:docMk/>
      </pc:docMkLst>
      <pc:sldChg chg="modSp">
        <pc:chgData name="Guest User" userId="" providerId="Windows Live" clId="Web-{AEF2C41C-2353-E427-C6B0-411CA31B3F0D}" dt="2025-11-08T05:29:12.638" v="4" actId="20577"/>
        <pc:sldMkLst>
          <pc:docMk/>
          <pc:sldMk cId="2530832358" sldId="282"/>
        </pc:sldMkLst>
        <pc:spChg chg="mod">
          <ac:chgData name="Guest User" userId="" providerId="Windows Live" clId="Web-{AEF2C41C-2353-E427-C6B0-411CA31B3F0D}" dt="2025-11-08T05:29:12.638" v="4" actId="20577"/>
          <ac:spMkLst>
            <pc:docMk/>
            <pc:sldMk cId="2530832358" sldId="282"/>
            <ac:spMk id="10" creationId="{0429B3D8-24F0-BFDD-F8CA-E6AACD40E032}"/>
          </ac:spMkLst>
        </pc:spChg>
      </pc:sldChg>
      <pc:sldChg chg="modSp">
        <pc:chgData name="Guest User" userId="" providerId="Windows Live" clId="Web-{AEF2C41C-2353-E427-C6B0-411CA31B3F0D}" dt="2025-11-08T04:58:58.027" v="3" actId="20577"/>
        <pc:sldMkLst>
          <pc:docMk/>
          <pc:sldMk cId="712714059" sldId="283"/>
        </pc:sldMkLst>
        <pc:spChg chg="mod">
          <ac:chgData name="Guest User" userId="" providerId="Windows Live" clId="Web-{AEF2C41C-2353-E427-C6B0-411CA31B3F0D}" dt="2025-11-08T04:58:58.027" v="3" actId="20577"/>
          <ac:spMkLst>
            <pc:docMk/>
            <pc:sldMk cId="712714059" sldId="283"/>
            <ac:spMk id="10" creationId="{207890F0-5585-BA3C-7BA1-63E4312F4CE6}"/>
          </ac:spMkLst>
        </pc:spChg>
      </pc:sldChg>
      <pc:sldChg chg="ord">
        <pc:chgData name="Guest User" userId="" providerId="Windows Live" clId="Web-{AEF2C41C-2353-E427-C6B0-411CA31B3F0D}" dt="2025-11-08T05:46:15.132" v="11"/>
        <pc:sldMkLst>
          <pc:docMk/>
          <pc:sldMk cId="2723714033" sldId="285"/>
        </pc:sldMkLst>
      </pc:sldChg>
      <pc:sldChg chg="ord">
        <pc:chgData name="Guest User" userId="" providerId="Windows Live" clId="Web-{AEF2C41C-2353-E427-C6B0-411CA31B3F0D}" dt="2025-11-08T05:46:51.022" v="12"/>
        <pc:sldMkLst>
          <pc:docMk/>
          <pc:sldMk cId="1773201119" sldId="289"/>
        </pc:sldMkLst>
      </pc:sldChg>
      <pc:sldChg chg="new del">
        <pc:chgData name="Guest User" userId="" providerId="Windows Live" clId="Web-{AEF2C41C-2353-E427-C6B0-411CA31B3F0D}" dt="2025-11-08T03:37:17.053" v="1"/>
        <pc:sldMkLst>
          <pc:docMk/>
          <pc:sldMk cId="3260889028" sldId="299"/>
        </pc:sldMkLst>
      </pc:sldChg>
    </pc:docChg>
  </pc:docChgLst>
  <pc:docChgLst>
    <pc:chgData name="Guest User" providerId="Windows Live" clId="Web-{FB592102-3889-C894-4A4F-5CF5190D4166}"/>
    <pc:docChg chg="modSld">
      <pc:chgData name="Guest User" userId="" providerId="Windows Live" clId="Web-{FB592102-3889-C894-4A4F-5CF5190D4166}" dt="2025-11-08T05:38:36.417" v="4" actId="20577"/>
      <pc:docMkLst>
        <pc:docMk/>
      </pc:docMkLst>
      <pc:sldChg chg="modSp">
        <pc:chgData name="Guest User" userId="" providerId="Windows Live" clId="Web-{FB592102-3889-C894-4A4F-5CF5190D4166}" dt="2025-11-08T05:29:15.794" v="1" actId="1076"/>
        <pc:sldMkLst>
          <pc:docMk/>
          <pc:sldMk cId="3244275708" sldId="266"/>
        </pc:sldMkLst>
        <pc:picChg chg="mod">
          <ac:chgData name="Guest User" userId="" providerId="Windows Live" clId="Web-{FB592102-3889-C894-4A4F-5CF5190D4166}" dt="2025-11-08T05:29:15.794" v="1" actId="1076"/>
          <ac:picMkLst>
            <pc:docMk/>
            <pc:sldMk cId="3244275708" sldId="266"/>
            <ac:picMk id="8" creationId="{FFAF1492-E4D5-825D-54B8-0BF269CB681A}"/>
          </ac:picMkLst>
        </pc:picChg>
      </pc:sldChg>
      <pc:sldChg chg="modSp">
        <pc:chgData name="Guest User" userId="" providerId="Windows Live" clId="Web-{FB592102-3889-C894-4A4F-5CF5190D4166}" dt="2025-11-08T05:38:36.417" v="4" actId="20577"/>
        <pc:sldMkLst>
          <pc:docMk/>
          <pc:sldMk cId="1644687032" sldId="276"/>
        </pc:sldMkLst>
        <pc:spChg chg="mod">
          <ac:chgData name="Guest User" userId="" providerId="Windows Live" clId="Web-{FB592102-3889-C894-4A4F-5CF5190D4166}" dt="2025-11-08T05:38:36.417" v="4" actId="20577"/>
          <ac:spMkLst>
            <pc:docMk/>
            <pc:sldMk cId="1644687032" sldId="276"/>
            <ac:spMk id="4" creationId="{B3B7422F-A42C-D0BC-BCC8-74FDAE65E3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." TargetMode="External"/><Relationship Id="rId2" Type="http://schemas.openxmlformats.org/officeDocument/2006/relationships/hyperlink" Target="https://www.linkedin.com/in/k-chandu-goud-32482a29a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560439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C5244-CD1C-B957-E40D-E5D18679EF2B}"/>
              </a:ext>
            </a:extLst>
          </p:cNvPr>
          <p:cNvSpPr txBox="1"/>
          <p:nvPr/>
        </p:nvSpPr>
        <p:spPr>
          <a:xfrm>
            <a:off x="1104644" y="4860435"/>
            <a:ext cx="9291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Web Scraping and Exploratory Data Analysis of </a:t>
            </a:r>
            <a:r>
              <a:rPr lang="en-IN" sz="2400"/>
              <a:t>Eazy Dinner Restaurant Finder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FB490FA-FD0E-B635-6A69-ED89B3BF75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5187" y="3254477"/>
            <a:ext cx="3529781" cy="830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BCD2-097C-AB08-F476-BFB1E15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434" y="241238"/>
            <a:ext cx="10515600" cy="991727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About Us: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A749-6D4D-68BF-7D83-9A1E95CC8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330411"/>
          </a:xfrm>
        </p:spPr>
        <p:txBody>
          <a:bodyPr>
            <a:normAutofit fontScale="85000" lnSpcReduction="20000"/>
          </a:bodyPr>
          <a:lstStyle/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We </a:t>
            </a:r>
            <a:r>
              <a:rPr lang="en-US" sz="240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K.Chandu</a:t>
            </a:r>
            <a:r>
              <a:rPr lang="en-US" sz="2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Goud and </a:t>
            </a:r>
            <a:r>
              <a:rPr lang="en-US" sz="240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S.Rishikesh</a:t>
            </a:r>
            <a:r>
              <a:rPr lang="en-US" sz="24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reddy </a:t>
            </a:r>
            <a:r>
              <a:rPr lang="en-US" altLang="en-US" sz="2400" err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B.Tech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graduate passionate about Data Analytics and Visualization.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Exploring data-driven insights through real-world datasets.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Interested in web data extraction and business trend analysis.</a:t>
            </a: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LINKEDIN(Chandu)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2"/>
              </a:rPr>
              <a:t>https://www.linkedin.com/in/k-chandu-goud-32482a29a/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GITHUB: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3"/>
              </a:rPr>
              <a:t>https://github.com/chandu63012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LINKEDIN(Rishikesh)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3"/>
              </a:rPr>
              <a:t>https://www.linkedin.com/in/rishikesh-reddy-3013a5233</a:t>
            </a: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GITHUB: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hlinkClick r:id="rId3"/>
              </a:rPr>
              <a:t>https://github.com/rishikeshreddy1405/Workco.git</a:t>
            </a:r>
            <a:endParaRPr lang="en-US" sz="24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531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C60B-D09B-73C1-83C7-5B8D1B69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2DCD9-A327-3BE0-5E99-2B80AB2BF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707" y="1380941"/>
            <a:ext cx="8458693" cy="4594488"/>
          </a:xfrm>
        </p:spPr>
        <p:txBody>
          <a:bodyPr>
            <a:no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Eazy Dinner is an online restaurant discovery platform that provides details such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 Restaurant names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Cuisines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Ratings,Price,Offers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Locations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data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website (Hyderabad)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Python (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, Requests, Pandas)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collect, clean, and analyze restaurant information.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extract structured data to identify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popular cuisines, top-rated restaurants, and dining trends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across Hyderabad.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end-to-end project highlights the use of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automation and analysis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real-world insights in the food industry.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it demonstrates how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simplifies data collection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from large dynamic websites.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serves as a foundation for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visualization and trend analysis using Power BI or Tableau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B22221D8-FFB4-69A5-0E6B-CFA11E559A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9F4D67FC-92D3-6EE8-165B-2A06CBBE8C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BCD98FD-62CF-4923-C2A8-6F3E0CB45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2700" y="1099656"/>
            <a:ext cx="2208049" cy="6209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211244-76CA-99E3-BE19-3A6062E25B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80387" t="24721" r="180387" b="-24721"/>
          <a:stretch>
            <a:fillRect/>
          </a:stretch>
        </p:blipFill>
        <p:spPr>
          <a:xfrm>
            <a:off x="4831852" y="2765845"/>
            <a:ext cx="2528297" cy="1326310"/>
          </a:xfrm>
          <a:prstGeom prst="rect">
            <a:avLst/>
          </a:prstGeom>
        </p:spPr>
      </p:pic>
      <p:pic>
        <p:nvPicPr>
          <p:cNvPr id="26" name="Picture 25" descr="A person with her eyes closed and a bowl of noodles on an orange background&#10;&#10;AI-generated content may be incorrect.">
            <a:extLst>
              <a:ext uri="{FF2B5EF4-FFF2-40B4-BE49-F238E27FC236}">
                <a16:creationId xmlns:a16="http://schemas.microsoft.com/office/drawing/2014/main" id="{2B49808D-CF7A-B115-1CE3-6FA90C208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2700" y="2005775"/>
            <a:ext cx="2422990" cy="375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94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BD2A-2603-F502-B2D8-6CE9EB49EA78}"/>
              </a:ext>
            </a:extLst>
          </p:cNvPr>
          <p:cNvSpPr txBox="1"/>
          <p:nvPr/>
        </p:nvSpPr>
        <p:spPr>
          <a:xfrm>
            <a:off x="635028" y="1570008"/>
            <a:ext cx="781088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information on </a:t>
            </a:r>
            <a:r>
              <a:rPr lang="en-US" sz="1900" err="1"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is unstructured and spread across multiple web pages, making manual data collection time-consuming.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No direct access to a consolidated dataset for analyzing restaurant ratings, cuisines, or location-based trends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comparing restaurants across areas due to inconsistent or incomplete online data formats.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automated tools to extract and update restaurant insights regularly for analytics or visualization purposes.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955875D-455A-4430-7DF9-4FC162186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6014" y="1125794"/>
            <a:ext cx="2670442" cy="672813"/>
          </a:xfrm>
          <a:prstGeom prst="rect">
            <a:avLst/>
          </a:prstGeom>
        </p:spPr>
      </p:pic>
      <p:pic>
        <p:nvPicPr>
          <p:cNvPr id="9" name="Picture 8" descr="A table with chairs and a plant on it&#10;&#10;AI-generated content may be incorrect.">
            <a:extLst>
              <a:ext uri="{FF2B5EF4-FFF2-40B4-BE49-F238E27FC236}">
                <a16:creationId xmlns:a16="http://schemas.microsoft.com/office/drawing/2014/main" id="{B77D757E-D24D-E341-0223-5DAF55FD0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013" y="1966452"/>
            <a:ext cx="2530959" cy="376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1" y="430018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E286A-B439-A981-0498-5FBB8AF7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5181" y="1507059"/>
            <a:ext cx="9721645" cy="3654876"/>
          </a:xfrm>
        </p:spPr>
        <p:txBody>
          <a:bodyPr>
            <a:noAutofit/>
          </a:bodyPr>
          <a:lstStyle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Extract structured restaurant data (Name, Cuisine,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Rating,Offers,Prices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location) from the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website using Python-based web scraping.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collected data to ensure consistency, accuracy, and usability for analysis.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Analyze restaurant trends to identify popular cuisines, highly rated areas, and dining patterns in Hyderabad.</a:t>
            </a: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Build a foundation for future visualization and interactive dashboards using tools like Power BI or Tableau.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Automate data extraction and updates to enable continuous monitoring of restaurant performance and emerging food trends.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41" y="425011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C51-E6DE-FD43-74F8-6AC7547F18CD}"/>
              </a:ext>
            </a:extLst>
          </p:cNvPr>
          <p:cNvSpPr txBox="1"/>
          <p:nvPr/>
        </p:nvSpPr>
        <p:spPr>
          <a:xfrm>
            <a:off x="983534" y="1294960"/>
            <a:ext cx="518719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EazyDiner’s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Official website was selected as the main data source for restaurants information in Hyderabad.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Used browser developer tools(inspect Element) to identify relevant HTML elements containing restaurant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names,cuisine,ratings,price,offers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location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Requests libraries in python to extract structured restaurants data from the web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Sent automated HTTP requests to retrieve multiple restaurant listings across different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consolidated the scraped data into a structured dataset for further analysis and visualization.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9A397A-388B-8693-5D4C-F5D622A48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86" y="140922"/>
            <a:ext cx="5187191" cy="1038950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6F01CE7-9187-BC23-F8EC-5E0B40325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85" y="1445341"/>
            <a:ext cx="5380065" cy="41983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7B9EA2-0837-3554-8AA6-B172005E7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672" y="5722371"/>
            <a:ext cx="3801005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091940F-394A-C4D9-49A9-28A0D53A3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326" y="1517596"/>
            <a:ext cx="3930769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143134B-5DDE-9DA9-C904-C2C12CE77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14" y="4568005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gEx - Transformation Services | openHAB">
            <a:extLst>
              <a:ext uri="{FF2B5EF4-FFF2-40B4-BE49-F238E27FC236}">
                <a16:creationId xmlns:a16="http://schemas.microsoft.com/office/drawing/2014/main" id="{EC2EC784-CEE9-A58C-1939-2AA806F63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5" y="3063874"/>
            <a:ext cx="40195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eautiful Soup 4 | Funthon">
            <a:extLst>
              <a:ext uri="{FF2B5EF4-FFF2-40B4-BE49-F238E27FC236}">
                <a16:creationId xmlns:a16="http://schemas.microsoft.com/office/drawing/2014/main" id="{81ABF712-4AED-CDA3-4D98-A52C78496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777" y="1381892"/>
            <a:ext cx="32670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Citing and logo — seaborn 0.13.2 ...">
            <a:extLst>
              <a:ext uri="{FF2B5EF4-FFF2-40B4-BE49-F238E27FC236}">
                <a16:creationId xmlns:a16="http://schemas.microsoft.com/office/drawing/2014/main" id="{7EC87C6C-8C0E-53D2-B133-B39020CF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95" y="471088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tplotlib Logo &amp; Brand Assets (SVG ...">
            <a:extLst>
              <a:ext uri="{FF2B5EF4-FFF2-40B4-BE49-F238E27FC236}">
                <a16:creationId xmlns:a16="http://schemas.microsoft.com/office/drawing/2014/main" id="{65CBCFCE-FD98-D992-1C08-65F5EFEB6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926" y="3109858"/>
            <a:ext cx="3705225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36" y="24972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15DCCC-4D7B-11A3-E7AE-A55D7E9A484F}"/>
              </a:ext>
            </a:extLst>
          </p:cNvPr>
          <p:cNvSpPr txBox="1"/>
          <p:nvPr/>
        </p:nvSpPr>
        <p:spPr>
          <a:xfrm>
            <a:off x="442452" y="688259"/>
            <a:ext cx="636147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Removed Unwanted Characters &amp; Formatting: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Cleaned restaurant names, cuisines, and location fields by removing special symbols, extra spaces, and inconsistent text formats to ensure uniformity.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&amp; Incomplete Values: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Replaced null or missing entries in rating and cuisine columns with suitable defaults or “Not Available” to maintain data integrity and avoid errors during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Type Conversion &amp; Standardization: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Converted rating columns from string/object type to numeric (float) for accurate statistical analysis and visualization. Ensured consistent text casing for categorical fields like cuisine and city.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Verified Location &amp; Structured Dataset: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Cross-checked location and address information for accuracy, formatted city names properly, and stored the cleaned output into a structured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CSV for further analysis.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10106F-D458-5319-F711-258FD33F0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642" y="611558"/>
            <a:ext cx="5008061" cy="866896"/>
          </a:xfrm>
          <a:prstGeom prst="rect">
            <a:avLst/>
          </a:prstGeom>
        </p:spPr>
      </p:pic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FAF1492-E4D5-825D-54B8-0BF269CB6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642" y="1646909"/>
            <a:ext cx="5008061" cy="433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6DB9-CFE0-861F-FD41-2793A64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9B3D8-24F0-BFDD-F8CA-E6AACD40E032}"/>
              </a:ext>
            </a:extLst>
          </p:cNvPr>
          <p:cNvSpPr txBox="1"/>
          <p:nvPr/>
        </p:nvSpPr>
        <p:spPr>
          <a:xfrm>
            <a:off x="696798" y="1088272"/>
            <a:ext cx="5011948" cy="50167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latin typeface="Times New Roman"/>
                <a:cs typeface="Times New Roman"/>
              </a:rPr>
              <a:t>Uni-Variate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plot shows most restaurants have ratings between 4.0 and 4.7, indicating generally high customer satisfaction on the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KDE curve shows multiple small peaks, suggesting slight variation in rating popularity, but still concentrated around the higher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 confirms a high median rating, with a small interquartile range, meaning most restaurants consistently receive good ratings.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few outliers near the upper end (~5.0), indicating only a limited number of exceptionally high-rated restaurants.</a:t>
            </a:r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1F2231C9-759E-4209-E881-A17BFEB4D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507"/>
          <a:stretch>
            <a:fillRect/>
          </a:stretch>
        </p:blipFill>
        <p:spPr>
          <a:xfrm>
            <a:off x="5968181" y="1088271"/>
            <a:ext cx="5958348" cy="360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0041-6786-98A5-A78C-5FFC636E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21342-FF3B-A195-33FF-DA36CFC36F5B}"/>
              </a:ext>
            </a:extLst>
          </p:cNvPr>
          <p:cNvSpPr txBox="1"/>
          <p:nvPr/>
        </p:nvSpPr>
        <p:spPr>
          <a:xfrm>
            <a:off x="734250" y="1310213"/>
            <a:ext cx="51913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plot shows that restaurant prices mostly fall between ₹1,000 and ₹2,500, indicating a mix of mid-range to premium dining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Multiple peaks in the KDE curve suggest varied pricing clusters, showing presence of both budget and premium restaurants.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 confirms a wide price range, with the median price leaned toward the higher side, meaning many restaurants are moderately expensive.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whiskers show few extreme values, indicating limited outliers and that most prices lie within a consistent and expected range.</a:t>
            </a:r>
          </a:p>
        </p:txBody>
      </p:sp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 descr="A comparison of a graph&#10;&#10;AI-generated content may be incorrect.">
            <a:extLst>
              <a:ext uri="{FF2B5EF4-FFF2-40B4-BE49-F238E27FC236}">
                <a16:creationId xmlns:a16="http://schemas.microsoft.com/office/drawing/2014/main" id="{60554DFD-18AE-3BAD-5291-3FA4009B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34" r="8571"/>
          <a:stretch>
            <a:fillRect/>
          </a:stretch>
        </p:blipFill>
        <p:spPr>
          <a:xfrm>
            <a:off x="6096000" y="1310213"/>
            <a:ext cx="5830529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9CB1F-F52B-AB9B-23B5-48A7B7E1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7876-07C0-93DC-2DD7-21561A9F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890F0-5585-BA3C-7BA1-63E4312F4CE6}"/>
              </a:ext>
            </a:extLst>
          </p:cNvPr>
          <p:cNvSpPr txBox="1"/>
          <p:nvPr/>
        </p:nvSpPr>
        <p:spPr>
          <a:xfrm>
            <a:off x="432619" y="1317522"/>
            <a:ext cx="5820697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The count plot shows that 25% offers are the most common, followed by 10% and 15%, while 20% offers are the least frequent rating trend on </a:t>
            </a:r>
            <a:r>
              <a:rPr lang="en-US" sz="2000" err="1">
                <a:latin typeface="Times New Roman"/>
                <a:cs typeface="Times New Roman"/>
              </a:rPr>
              <a:t>EazyDiner</a:t>
            </a:r>
            <a:r>
              <a:rPr lang="en-US" sz="2000">
                <a:latin typeface="Times New Roman"/>
                <a:cs typeface="Times New Roman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pie chart confirms this trend visually, with 25% offers making up the largest share and 20% offers contributing the smallest portion.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suggests that restaurants tend to provide higher discount rates (25%) more frequently to attract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variety of offer percentages indicates a competitive pricing and discount strategy among restaurants to drive customer traffic.</a:t>
            </a:r>
          </a:p>
        </p:txBody>
      </p:sp>
      <p:pic>
        <p:nvPicPr>
          <p:cNvPr id="7" name="Picture 6" descr="A graph showing a diagram&#10;&#10;AI-generated content may be incorrect.">
            <a:extLst>
              <a:ext uri="{FF2B5EF4-FFF2-40B4-BE49-F238E27FC236}">
                <a16:creationId xmlns:a16="http://schemas.microsoft.com/office/drawing/2014/main" id="{236A3620-9244-A2D7-91B4-7340B60D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0"/>
          <a:stretch>
            <a:fillRect/>
          </a:stretch>
        </p:blipFill>
        <p:spPr>
          <a:xfrm>
            <a:off x="6607277" y="1506333"/>
            <a:ext cx="5407741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1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98682-D684-5CBE-45F7-312D5903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A065-3F45-1970-A334-E1F2237E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DFE87-3B98-24A9-3C1B-2A43B4D9DD06}"/>
              </a:ext>
            </a:extLst>
          </p:cNvPr>
          <p:cNvSpPr txBox="1"/>
          <p:nvPr/>
        </p:nvSpPr>
        <p:spPr>
          <a:xfrm>
            <a:off x="521110" y="969357"/>
            <a:ext cx="517176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Bi-Variate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These visualizations compare restaurant price ranges across different offer percentages (25%, 10%, 15%, and 20%).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 highlights the median, inter-quartile range, and outliers, showing price variation within each offer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violin plot provides a deeper view of data distribution and density, showing how frequently certain price points appear within each offer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with 25% and 10% offers have higher price ranges, indicating premium restaurants tend to offer attractive discounts.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15% and 20% offer groups show lower and narrower price ranges, suggesting more budget-friendly restaurants offer smaller, consistent discounts.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blue rectangular boxes&#10;&#10;AI-generated content may be incorrect.">
            <a:extLst>
              <a:ext uri="{FF2B5EF4-FFF2-40B4-BE49-F238E27FC236}">
                <a16:creationId xmlns:a16="http://schemas.microsoft.com/office/drawing/2014/main" id="{D6A97C33-C4D7-27EE-DEE7-F86829116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188" y="354768"/>
            <a:ext cx="5402943" cy="2948871"/>
          </a:xfrm>
          <a:prstGeom prst="rect">
            <a:avLst/>
          </a:prstGeom>
        </p:spPr>
      </p:pic>
      <p:pic>
        <p:nvPicPr>
          <p:cNvPr id="7" name="Picture 6" descr="A graph showing the price of a violin&#10;&#10;AI-generated content may be incorrect.">
            <a:extLst>
              <a:ext uri="{FF2B5EF4-FFF2-40B4-BE49-F238E27FC236}">
                <a16:creationId xmlns:a16="http://schemas.microsoft.com/office/drawing/2014/main" id="{68799127-C4D1-77F7-666F-1BFC57FCB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189" y="3554362"/>
            <a:ext cx="5402942" cy="253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4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66B82-888C-47A4-9A93-E3BDA0BC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AAAA-6A70-A375-E36A-57C13DE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5F5D73-9438-374C-2CD9-92C838053E30}"/>
              </a:ext>
            </a:extLst>
          </p:cNvPr>
          <p:cNvSpPr txBox="1"/>
          <p:nvPr/>
        </p:nvSpPr>
        <p:spPr>
          <a:xfrm>
            <a:off x="521110" y="1415845"/>
            <a:ext cx="682358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heatmap shows the correlation between restaurant price level and customer ratings..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diagonal values are 1.00, representing perfect self-correlation of each variable.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value of 0.54 between price and rating indicates a moderate positive relationship.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higher-priced restaurants tend to receive better ratings, although the relationship is not very strong.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uses color intensity to clearly show the strength of correlation — red for strong positive correlation and blue for weaker relationships.</a:t>
            </a:r>
          </a:p>
        </p:txBody>
      </p:sp>
      <p:pic>
        <p:nvPicPr>
          <p:cNvPr id="5" name="Picture 4" descr="A diagram of heatmap&#10;&#10;AI-generated content may be incorrect.">
            <a:extLst>
              <a:ext uri="{FF2B5EF4-FFF2-40B4-BE49-F238E27FC236}">
                <a16:creationId xmlns:a16="http://schemas.microsoft.com/office/drawing/2014/main" id="{B5EEDDC2-C4EF-DE2B-7EDF-EBDB7B1A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08" y="969357"/>
            <a:ext cx="4660491" cy="425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1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6375-873F-A5A0-AEE6-0EE96A9B3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6D57-B54C-227A-553D-FBD81EC08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69F69-AE06-2596-25E3-9599EFAFCE0B}"/>
              </a:ext>
            </a:extLst>
          </p:cNvPr>
          <p:cNvSpPr txBox="1"/>
          <p:nvPr/>
        </p:nvSpPr>
        <p:spPr>
          <a:xfrm>
            <a:off x="581383" y="1328456"/>
            <a:ext cx="58765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violin plot compares restaurant price ranges across different locations in Hyderabad.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Locations like Gachibowli, ITC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Kohenur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and Jubilee Hills show higher price ranges, indicating premium dining zones.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Areas such as Hitech City and Banjara Hills show a broader spread, meaning a mix of budget and high-end restaurants.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reveals that restaurant pricing varies significantly by locality, showing how location influences dining cost and target customer group.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87B6E51B-1CC7-1336-4767-0021E5EF0A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64" t="472" r="12432" b="-472"/>
          <a:stretch>
            <a:fillRect/>
          </a:stretch>
        </p:blipFill>
        <p:spPr>
          <a:xfrm>
            <a:off x="7973961" y="1062652"/>
            <a:ext cx="382475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0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818E-DAFD-9A23-AA9C-58C4207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189-12E1-CAA7-F203-94A1E3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8D7F5-86EB-026A-C8B3-D862C9E02CF8}"/>
              </a:ext>
            </a:extLst>
          </p:cNvPr>
          <p:cNvSpPr txBox="1"/>
          <p:nvPr/>
        </p:nvSpPr>
        <p:spPr>
          <a:xfrm>
            <a:off x="667108" y="1474881"/>
            <a:ext cx="65989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boxplot compares restaurant ratings across different locations in Hyderabad.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Locations such as Banjara Hills and Jubilee Hills show higher median ratings, indicating strong customer satisfaction in premium 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Some locations like Gachibowli and Hitech City display a wider spread in ratings, meaning a mix of both average-rated and high-rated restaurants.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consistent higher ratings in top areas suggests these locations offer better service quality and dining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Lower variation in ratings for certain areas reflects consistent performance, while higher variation indicates diverse restaurant quality levels within that locality.</a:t>
            </a:r>
          </a:p>
        </p:txBody>
      </p:sp>
      <p:pic>
        <p:nvPicPr>
          <p:cNvPr id="5" name="Picture 4" descr="A graph of a bar chart&#10;&#10;AI-generated content may be incorrect.">
            <a:extLst>
              <a:ext uri="{FF2B5EF4-FFF2-40B4-BE49-F238E27FC236}">
                <a16:creationId xmlns:a16="http://schemas.microsoft.com/office/drawing/2014/main" id="{3A3C8804-5063-E664-BFCB-DF32E0A22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7808" y="1474881"/>
            <a:ext cx="43529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1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7BBF4-1CFA-CD8B-899F-E41585DD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B468-2A6E-A565-4345-2C57412B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E2E40-2FB2-04D8-FD57-E214BC76FFF0}"/>
              </a:ext>
            </a:extLst>
          </p:cNvPr>
          <p:cNvSpPr txBox="1"/>
          <p:nvPr/>
        </p:nvSpPr>
        <p:spPr>
          <a:xfrm>
            <a:off x="560438" y="1061884"/>
            <a:ext cx="60665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Multi-Variate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 shows that restaurant pricing varies significantly by restaurant type — with Regional Indian, Chinese, and Desserts/Finger Food restaurants having higher price ranges, while Cafes and Italian outlets tend to be more budget-friendly.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Multicuisine restaurants show a wider spread in price, indicating the presence of both mid-range and premium dining options in this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highlights that premium areas like Banjara Hills, Jubilee Hills, and Gachibowli consistently achieve higher average ratings, especially for Multicuisine and International-style restaurants</a:t>
            </a:r>
            <a:r>
              <a:rPr lang="en-US" sz="200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combined view suggests that location and restaurant type together influence pricing and ratings, with upscale areas showing higher-priced and better-rated restaurants.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ar graph with text&#10;&#10;AI-generated content may be incorrect.">
            <a:extLst>
              <a:ext uri="{FF2B5EF4-FFF2-40B4-BE49-F238E27FC236}">
                <a16:creationId xmlns:a16="http://schemas.microsoft.com/office/drawing/2014/main" id="{8FE07B74-2DE4-F51B-B766-66B019C69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494" y="890699"/>
            <a:ext cx="4919706" cy="2055710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9BA19F7D-14F6-E864-4981-4BDD3A28B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494" y="3383833"/>
            <a:ext cx="4919706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81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B56F-CE91-689B-D969-3B9BEF8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1CBF-5171-F58F-E6DC-193491D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7AF65-3901-0BB9-4EB3-70E37ADAA8A0}"/>
              </a:ext>
            </a:extLst>
          </p:cNvPr>
          <p:cNvSpPr txBox="1"/>
          <p:nvPr/>
        </p:nvSpPr>
        <p:spPr>
          <a:xfrm>
            <a:off x="412955" y="1081548"/>
            <a:ext cx="559255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how average restaurant pricing varies across key locations in Hyderabad, highlighting differences in dining affordability.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Premium areas like Gachibowli, Hitech City, and ITC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Kohenur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average prices, indicating a strong presence of upscale restaurants.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Locations like Banjara Hills and Jubilee Hills show moderately high prices, reflecting a mix of luxury and mid-range dining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Areas with lower average prices suggest more budget-friendly restaurants, catering to a wider audience and casual dining crowd.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5CB9F7B-6AB3-62EF-71B6-0A8302DD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514" y="1170039"/>
            <a:ext cx="6060049" cy="374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1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B56F-CE91-689B-D969-3B9BEF87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1CBF-5171-F58F-E6DC-193491D4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4768"/>
            <a:ext cx="5402943" cy="614589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7AF65-3901-0BB9-4EB3-70E37ADAA8A0}"/>
              </a:ext>
            </a:extLst>
          </p:cNvPr>
          <p:cNvSpPr txBox="1"/>
          <p:nvPr/>
        </p:nvSpPr>
        <p:spPr>
          <a:xfrm>
            <a:off x="432619" y="1150374"/>
            <a:ext cx="603745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scatter plot compares restaurant pricing with customer ratings across different cuisine/restaurant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Higher-priced categories like Multicuisine and International (Mexican/Italian/Beverages) tend to show higher ratings, indicating premium dining often aligns with better customer satisfaction.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Some budget-friendly segments like Cafes and Regional Indian outlets have lower price points with moderate ratings, showing affordability but mixed experiences.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spread reflects that while higher price generally correlates with better ratings, quality varies by cuisine type, and customer preferences differ across restaurant segments.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0B7CE4-1CE7-E959-3686-22EE7D2A3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71" y="1045781"/>
            <a:ext cx="5236906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7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CA0CE-8274-A1F5-3A9F-98D981522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541" y="100387"/>
            <a:ext cx="7763435" cy="894695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30632-BBBE-7E42-5C8B-2887796D6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4261" y="1264024"/>
            <a:ext cx="8676563" cy="4228275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Which areas in Hyderabad have the most restaurants?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What are the most popular cuisines?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Which locations have the highest-rated restaurants?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How are restaurant ratings distributed across the city?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Do certain cuisines receive higher ratings consistently?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448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3675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13" y="1278429"/>
            <a:ext cx="10674442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/>
                <a:cs typeface="Times New Roman"/>
              </a:rPr>
              <a:t>Successfully scraped restaurant data from the Eazy Diner platform using Python &amp; Beautiful Soup.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 and formatting to convert raw HTML data into a structured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analysis on top locations, cuisines, and restaurant ratings across Hyderabad.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Observed that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Banjara Hills, Jubilee Hills, and Gachibowli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restaurant concentration and top ratings.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North Indian, Chinese, and Multicuisine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as the most preferred cuisines among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complete data workflow: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→ Data Cleaning → Exploratory Analysis → Visualization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and highlights how web data can support real-world business insights.</a:t>
            </a:r>
          </a:p>
          <a:p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5E8E-6849-AC7C-6AB8-8B2CA1F3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535" y="2418101"/>
            <a:ext cx="3302655" cy="1670152"/>
          </a:xfrm>
        </p:spPr>
        <p:txBody>
          <a:bodyPr>
            <a:normAutofit/>
          </a:bodyPr>
          <a:lstStyle/>
          <a:p>
            <a:r>
              <a:rPr lang="en-IN" sz="6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62551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4" y="178313"/>
            <a:ext cx="10515600" cy="132556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Experience– Web Scraping &amp; Data Analysis: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5608D9-1735-0142-AAF8-1110DAFC9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1614" y="1388414"/>
            <a:ext cx="986765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Scraped restaurant data from EazyDiner.com using Python,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and Requests.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Extracted key information including restaurant names, cuisines, locations, and ratings from multiple pages.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standardized data by removing noisy characters, handling missing values, and formatting columns for consistency.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Performed exploratory data analysis to identify top restaurant zones, popular cuisines, and rating patterns in Hyderabad.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Completed end-to-end workflow: Scraping → Cleaning → Analysis → Visualization → Insights Presentation.</a:t>
            </a:r>
            <a:endParaRPr kumimoji="0" lang="en-US" altLang="en-US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61" y="406420"/>
            <a:ext cx="10515600" cy="1325563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Challenges – Web Scraping &amp; Data Analysis: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A88F87-09D6-310A-575A-399768B2B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50606" y="1759361"/>
            <a:ext cx="990629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Dynamic and inconsistent HTML structure across restaurant pages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complete details for each restaurant (name, cuisine, location, rating)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missing, duplicated, and unclean text data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Managing pagination and avoiding request restrictions during scraping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Selecting clear and meaningful visualizations to highlight insights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1,800+ Thank You Presentation Stock Photos, Pictures &amp; Royalty-Free Images  - iStock | Thank you for listening, Thank you sign, Thank you note">
            <a:extLst>
              <a:ext uri="{FF2B5EF4-FFF2-40B4-BE49-F238E27FC236}">
                <a16:creationId xmlns:a16="http://schemas.microsoft.com/office/drawing/2014/main" id="{20A35851-7728-0177-9AC4-06858B17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345" y="692727"/>
            <a:ext cx="9975273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About Us:</vt:lpstr>
      <vt:lpstr>Introduction:</vt:lpstr>
      <vt:lpstr>Business Problem:</vt:lpstr>
      <vt:lpstr>Objectives:</vt:lpstr>
      <vt:lpstr>Web Scraping:</vt:lpstr>
      <vt:lpstr>Tools Used:</vt:lpstr>
      <vt:lpstr>Data Cleaning Steps: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Data Visualization:</vt:lpstr>
      <vt:lpstr>Key Business Questions</vt:lpstr>
      <vt:lpstr>Conclusion:</vt:lpstr>
      <vt:lpstr>Q&amp;A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revision>1</cp:revision>
  <dcterms:created xsi:type="dcterms:W3CDTF">2021-02-16T05:19:01Z</dcterms:created>
  <dcterms:modified xsi:type="dcterms:W3CDTF">2025-11-08T05:47:30Z</dcterms:modified>
</cp:coreProperties>
</file>